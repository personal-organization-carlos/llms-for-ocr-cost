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bae2cee5-30e7-c6ef-228b-b1894623cb8c}">
          <p14:sldIdLst>
            <p14:sldId id="256"/>
          </p14:sldIdLst>
        </p14:section>
        <p14:section name="Objetivo" id="{8abcd600-86cd-6848-79bc-c01ab8b848d2}">
          <p14:sldIdLst>
            <p14:sldId id="257"/>
          </p14:sldIdLst>
        </p14:section>
        <p14:section name="Dataset" id="{b312c8d3-5616-9f35-9a78-33ea24ff0a37}">
          <p14:sldIdLst>
            <p14:sldId id="258"/>
            <p14:sldId id="259"/>
            <p14:sldId id="260"/>
          </p14:sldIdLst>
        </p14:section>
        <p14:section name="Metodologia" id="{f96b545e-e643-6652-aff6-b1492b420bf8}">
          <p14:sldIdLst>
            <p14:sldId id="261"/>
            <p14:sldId id="262"/>
            <p14:sldId id="263"/>
            <p14:sldId id="264"/>
            <p14:sldId id="265"/>
          </p14:sldIdLst>
        </p14:section>
        <p14:section name="Resultados" id="{de1ddf66-26b2-d2f8-c8aa-cd789edc2ef0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onclusões" id="{a4e57c54-9f06-250d-e478-98daadfade1e}">
          <p14:sldIdLst>
            <p14:sldId id="274"/>
          </p14:sldIdLst>
        </p14:section>
        <p14:section name="Limitações" id="{775b2168-836a-a60a-2e02-2eb134b2b7b2}">
          <p14:sldIdLst>
            <p14:sldId id="275"/>
          </p14:sldIdLst>
        </p14:section>
        <p14:section name="Referências" id="{5ecf6962-20e9-75e8-32ce-4c1923e698fa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benchmark de transcrição de páginas históricas com modelos multimodais. Números desta apresentação vêm das medições de 9 execuções (20260907 a 20260909), recalculadas com a normalização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avaliar viabilidade e custo. A comparação é entre sistemas com a instrução fixa: um único prompt para todos os LLMs. O horizonte de 3,6 milhões de páginas é o tamanho usado nas projeções de custo e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Diário Oficial do Estado de São Paulo. Cada documento é uma pasta com a imagem (entrada) e o HTML de referência. Uma página por pasta; a dificuldade está declarada no nome da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referência é a verdade por definição, não por perfeição: um erro remanescente nela penaliza quem acertou. Atenção: a transcrição inicial foi feita por um modelo da família Claude — ponto retomado nas limitações.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Exemplos: página de 1891 (fácil), de 1920 (médio, com balancete) e de 1930 (difícil, quadro de credores em grade). A distribuição é 8 fáceis, 4 médias e 4 difíceis.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chamada fica numa pasta própria: a resposta bruta, o corpo verbatim do provedor e os dois textos normalizados, o que permite auditar qualquer número com um diff. Remedições de uma mesma página são deduplicadas para a qualidade, mas o dinheiro gasto nelas entra no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OpenRouter: um único formato de requisição para vários fornecedores e o valor efetivamente cobrado em cada resposta. A casa de hospedagem é fixada porque o mesmo modelo aberto é servido com quantizações diferentes. API do Google: devolve tokens mas não valor, então o custo é estimado; a cota gratuita e os erros de servidor derrubaram o Gemini 3.7 nativo, que segue no estudo pela via OpenRouter. MinerU: backends pipeline (layout + OCR clássico), vlm (modelo de visão e linguagem de 1,2 B) e hybrid (layout do pipeline + texto do VLM), em duas intensidades.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Kimi K3 roda com esforço de raciocínio baixo (low), e os tokens de pensamento são cobrados como saída. Não há eixo de especificidade de prompt: a comparação é entre sistemas com a mesma instrução.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referência é HTML e as hipóteses chegam em HTML (LLMs) ou Markdown (MinerU). Comparar cru mediria estilo. A mesma rotina reduz os dois lados a texto. A hifenização é a única regra que consulta a referência: uma palavra que só difere da página pelo hífen recebe a grafia da página; nenhuma letra é trocada. Os escapes do Markdown do MinerU (\$ nos réis) partiam os números em dois e foram corrigidos.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 e WER são a mesma conta em unidades diferentes. O F1 de palavras foi incluído porque a ordem de leitura de um jornal de três colunas não é única: quem troca a ordem dos blocos recupera as palavras e ainda leva WER alto. O num_f1 sai vazio numa página sem números. HTML limpo não se aplica ao MinerU, que não recebeu a instrução.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Gemini 3.5 Flash cobriu só 11 das 16 páginas (5 respostas truncadas no teto de tokens e erros de servidor) e não disputa os destaques. Cor da via: terracota = fechado, azul = aberto, cinza =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 (bench graficos). Ordenada pelo CER, o melhor no topo; n é o número de páginas medidas. O WER é sempre maior que o CER porque uma letra errada derruba a palavra inteira. O MinerU vlm e o hybrid-high empatam: deram texto quase idêntico em 14 das 16 páginas.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sistema. O num_f1 compara os números da página por multiconjunto (réis, datas, processos). O F1 de palavras, citado à direita, vem do mesmo resumo do sistema (coluna palavras_f1); a diferença entre WER e 1 − F1 de palavras indica quanto do WER veio de blocos transcritos em outra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sistema, com custo por página válida (inclui o que foi pago em chamadas truncadas). Não há vencedor único sem escolher uma taxa de câmbio entre dólar e erro; a fronteira de Pareto lista quem não pode ser superado nos dois eixos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sistema: os papéis (melhor qualidade, melhor custo-benefício, mais barato, melhor gratuito) entre os sistemas com cobertura completa. O papel de custo-benefício usa custo ÷ (1 − CER): errar 17% dos caracteres encarece a página em só 21%, por isso o Qwen3-VL vence. Para a pesquisa histórica isso subestima o custo de revisar uma página com uma palavra errada a cada cinco. Projeção para outros pagos: Sonnet US$ 218,5 mil, Gemini 3.7 Flash US$ 106,0 mil, Flash-Lite US$ 35,5 mil.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sistema: latência média por página multiplicada pelo acervo, em série e com 50 chamadas simultâneas; a espera de rate limit não entra. O tempo do MinerU mede a GPU desta máquina, não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sistema. A medida verifica se a resposta é só o documento HTML, sem prosa antes ou depois. O MinerU não recebeu a instrução e fica de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Figura gerada pelo sistema: média de todas as chamadas válidas de cada grau (n = 112, 54 e 53); o traço claro é a mediana.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transcrever o acervo com LLM é viável em qualidade e o custo varia em mais de uma ordem de grandeza para qualidades parecidas. A escolha depende de quanto vale um ponto de erro — e o erro que mais importa para a pesquisa histórica, o dos números, ainda pede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limitação de maior peso para a justiça da comparação é a origem da referência: como a primeira versão foi gerada por um Claude, a revisão manual é o que impede a métrica de medir concordância com aquele modelo. Ampliar o registro da revisão para as 16 páginas e repetir as chamadas para estimar variância são os próximos passos naturais.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no padrão ABNT NBR 6023:2018, em ordem alfabética, com destaque em negrito. Os quatro artigos foram conferidos nas páginas do arXiv (título, autores e data); o de Levchenko foi apresentado no workshop LM4DH da RANLP 2025. O relatório do projeto atribuía esse artigo a 'Sharma et al.', o que está incorreto: a autora única é Maria Levchenko.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5D9E0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</a:rPr>
              <a:t>Transcrição de documentos históricos com LLMs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E8A27F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B"/>
                </a:solidFill>
              </a:rPr>
              <a:t>Transcrição de documentos históricos com LLMs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ágina do Diário Oficial de 1891" descr="C:\Users\carlo\AppData\Local\Temp\claude\C--Users-carlo-Documents-mestrado-Pesquisa-LLMs-to-OCR-cost\0a61dc15-2d66-486a-a38a-f5ced57e5c56\scratchpad\deck\img\faci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0"/>
            <a:ext cx="315468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430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Transcrição de documentos históricos com LLMs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5D9E0"/>
                </a:solidFill>
              </a:rPr>
              <a:t>Qualidade e custo na transcrição do Diário Oficial do Estado de S. Paulo (1891–1930)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428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9E0"/>
                </a:solidFill>
              </a:rPr>
              <a:t>páginas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3840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42428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9E0"/>
                </a:solidFill>
              </a:rPr>
              <a:t>sistemas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3840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4242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9E0"/>
                </a:solidFill>
              </a:rPr>
              <a:t>chamadas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US$ 10,37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9E0"/>
                </a:solidFill>
              </a:rPr>
              <a:t>custo total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OBJETIVO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pergunta com duas metades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Acervos históricos existem hoje sobretudo como imagens: milhões de páginas que não podem ser pesquisadas por texto. O projeto mede se modelos de linguagem multimodais são viáveis para transcrevê-las — e a que preço.</a:t>
            </a:r>
            <a:endParaRPr lang="en-US" sz="1500" dirty="0"/>
          </a:p>
        </p:txBody>
      </p:sp>
      <p:sp>
        <p:nvSpPr>
          <p:cNvPr id="5" name="metade Qualidade"/>
          <p:cNvSpPr/>
          <p:nvPr/>
        </p:nvSpPr>
        <p:spPr>
          <a:xfrm>
            <a:off x="457200" y="237744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arcador 1"/>
          <p:cNvSpPr/>
          <p:nvPr/>
        </p:nvSpPr>
        <p:spPr>
          <a:xfrm>
            <a:off x="640080" y="2624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054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Qualidade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9806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Quanto da página sobrevive à transcrição: palavras, caracteres e números (réis, datas, processos).</a:t>
            </a:r>
            <a:endParaRPr lang="en-US" sz="1300" dirty="0"/>
          </a:p>
        </p:txBody>
      </p:sp>
      <p:sp>
        <p:nvSpPr>
          <p:cNvPr id="10" name="metade Custo"/>
          <p:cNvSpPr/>
          <p:nvPr/>
        </p:nvSpPr>
        <p:spPr>
          <a:xfrm>
            <a:off x="457200" y="3456432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 2"/>
          <p:cNvSpPr/>
          <p:nvPr/>
        </p:nvSpPr>
        <p:spPr>
          <a:xfrm>
            <a:off x="640080" y="37033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03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844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7705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Quanto se paga e quanto se espera por página — projetado para o acervo inteiro.</a:t>
            </a:r>
            <a:endParaRPr lang="en-US" sz="1300" dirty="0"/>
          </a:p>
        </p:txBody>
      </p:sp>
      <p:sp>
        <p:nvSpPr>
          <p:cNvPr id="15" name="horizonte do acervo"/>
          <p:cNvSpPr/>
          <p:nvPr/>
        </p:nvSpPr>
        <p:spPr>
          <a:xfrm>
            <a:off x="5943600" y="1280160"/>
            <a:ext cx="2743200" cy="3090672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508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8A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395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milhões de páginas no horizonte do projeto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1089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10 LLMs por API e 4 backends do MinerU executados localmente, todos sobre as mesmas 16 páginas.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DATASET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páginas do Diário Oficial, de 1891 a 1930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Diário Oficial do Estado de S. Paulo, páginas digitalizadas (0,9 a 1,9 MB cada).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≈ 17 mil palavras de referência (659 a 1.562 por página).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Layout em duas ou três colunas, tabelas de valores em réis (1:770$300).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Grafia de época preservada: sabbado, diario, pedio, commercio.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272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Páginas por década</a:t>
            </a:r>
            <a:endParaRPr lang="en-US" sz="1200" dirty="0"/>
          </a:p>
        </p:txBody>
      </p:sp>
      <p:sp>
        <p:nvSpPr>
          <p:cNvPr id="6" name="linha do tempo"/>
          <p:cNvSpPr/>
          <p:nvPr/>
        </p:nvSpPr>
        <p:spPr>
          <a:xfrm>
            <a:off x="777240" y="3840480"/>
            <a:ext cx="448056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7" name="marcador 4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1891</a:t>
            </a:r>
            <a:endParaRPr lang="en-US" sz="1300" dirty="0"/>
          </a:p>
        </p:txBody>
      </p:sp>
      <p:sp>
        <p:nvSpPr>
          <p:cNvPr id="10" name="marcador 4"/>
          <p:cNvSpPr/>
          <p:nvPr/>
        </p:nvSpPr>
        <p:spPr>
          <a:xfrm>
            <a:off x="1664208" y="3611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6420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27048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1900</a:t>
            </a:r>
            <a:endParaRPr lang="en-US" sz="1300" dirty="0"/>
          </a:p>
        </p:txBody>
      </p:sp>
      <p:sp>
        <p:nvSpPr>
          <p:cNvPr id="13" name="marcador 3"/>
          <p:cNvSpPr/>
          <p:nvPr/>
        </p:nvSpPr>
        <p:spPr>
          <a:xfrm>
            <a:off x="2779776" y="3611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79776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42616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1910</a:t>
            </a:r>
            <a:endParaRPr lang="en-US" sz="1300" dirty="0"/>
          </a:p>
        </p:txBody>
      </p:sp>
      <p:sp>
        <p:nvSpPr>
          <p:cNvPr id="16" name="marcador 2"/>
          <p:cNvSpPr/>
          <p:nvPr/>
        </p:nvSpPr>
        <p:spPr>
          <a:xfrm>
            <a:off x="3895344" y="3611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95344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58184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1920</a:t>
            </a:r>
            <a:endParaRPr lang="en-US" sz="1300" dirty="0"/>
          </a:p>
        </p:txBody>
      </p:sp>
      <p:sp>
        <p:nvSpPr>
          <p:cNvPr id="19" name="marcador 3"/>
          <p:cNvSpPr/>
          <p:nvPr/>
        </p:nvSpPr>
        <p:spPr>
          <a:xfrm>
            <a:off x="5010912" y="3611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10912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73752" y="4133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1930</a:t>
            </a:r>
            <a:endParaRPr lang="en-US" sz="1300" dirty="0"/>
          </a:p>
        </p:txBody>
      </p:sp>
      <p:pic>
        <p:nvPicPr>
          <p:cNvPr id="22" name="página de 1920" descr="C:\Users\carlo\AppData\Local\Temp\claude\C--Users-carlo-Documents-mestrado-Pesquisa-LLMs-to-OCR-cost\0a61dc15-2d66-486a-a38a-f5ced57e5c56\scratchpad\deck\img\me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234440"/>
            <a:ext cx="2331720" cy="344728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DATASET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referência (ground truth) foi construída</a:t>
            </a:r>
            <a:endParaRPr lang="en-US" sz="2800" dirty="0"/>
          </a:p>
        </p:txBody>
      </p:sp>
      <p:sp>
        <p:nvSpPr>
          <p:cNvPr id="4" name="passo 1"/>
          <p:cNvSpPr/>
          <p:nvPr/>
        </p:nvSpPr>
        <p:spPr>
          <a:xfrm>
            <a:off x="45720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640080" y="14447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568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Transcrição inicial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6771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 Claude Opus 5.1 gera o HTML da página e lista as palavras com grafia fora do padrão atual.</a:t>
            </a:r>
            <a:endParaRPr lang="en-US" sz="1200" dirty="0"/>
          </a:p>
        </p:txBody>
      </p:sp>
      <p:sp>
        <p:nvSpPr>
          <p:cNvPr id="9" name="seta"/>
          <p:cNvSpPr/>
          <p:nvPr/>
        </p:nvSpPr>
        <p:spPr>
          <a:xfrm>
            <a:off x="3054096" y="2057400"/>
            <a:ext cx="201168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asso 2"/>
          <p:cNvSpPr/>
          <p:nvPr/>
        </p:nvSpPr>
        <p:spPr>
          <a:xfrm>
            <a:off x="329184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 2"/>
          <p:cNvSpPr/>
          <p:nvPr/>
        </p:nvSpPr>
        <p:spPr>
          <a:xfrm>
            <a:off x="3474720" y="14447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9568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Revisão manual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6771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Cada página é conferida contra a imagem e corrigida à mão.</a:t>
            </a:r>
            <a:endParaRPr lang="en-US" sz="1200" dirty="0"/>
          </a:p>
        </p:txBody>
      </p:sp>
      <p:sp>
        <p:nvSpPr>
          <p:cNvPr id="15" name="seta"/>
          <p:cNvSpPr/>
          <p:nvPr/>
        </p:nvSpPr>
        <p:spPr>
          <a:xfrm>
            <a:off x="5888736" y="2057400"/>
            <a:ext cx="201168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passo 3"/>
          <p:cNvSpPr/>
          <p:nvPr/>
        </p:nvSpPr>
        <p:spPr>
          <a:xfrm>
            <a:off x="612648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marcador 3"/>
          <p:cNvSpPr/>
          <p:nvPr/>
        </p:nvSpPr>
        <p:spPr>
          <a:xfrm>
            <a:off x="6309360" y="144475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1444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9568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Referência final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26771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HTML que preserva colunas, tabelas, quebras de linha e a grafia original.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Marcações do PDF de validação</a:t>
            </a:r>
            <a:endParaRPr lang="en-US" sz="1200" dirty="0"/>
          </a:p>
        </p:txBody>
      </p:sp>
      <p:sp>
        <p:nvSpPr>
          <p:cNvPr id="22" name="marca rosa"/>
          <p:cNvSpPr/>
          <p:nvPr/>
        </p:nvSpPr>
        <p:spPr>
          <a:xfrm>
            <a:off x="457200" y="3657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7A1C0"/>
          </a:solidFill>
          <a:ln w="12700">
            <a:solidFill>
              <a:srgbClr val="E7A1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36027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rosa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grafia de época, preservada</a:t>
            </a:r>
            <a:endParaRPr lang="en-US" sz="1200" dirty="0"/>
          </a:p>
        </p:txBody>
      </p:sp>
      <p:sp>
        <p:nvSpPr>
          <p:cNvPr id="24" name="marca vermelho"/>
          <p:cNvSpPr/>
          <p:nvPr/>
        </p:nvSpPr>
        <p:spPr>
          <a:xfrm>
            <a:off x="3291840" y="3657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6027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vermelho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 corrigido na referência</a:t>
            </a:r>
            <a:endParaRPr lang="en-US" sz="1200" dirty="0"/>
          </a:p>
        </p:txBody>
      </p:sp>
      <p:sp>
        <p:nvSpPr>
          <p:cNvPr id="26" name="marca amarelo"/>
          <p:cNvSpPr/>
          <p:nvPr/>
        </p:nvSpPr>
        <p:spPr>
          <a:xfrm>
            <a:off x="6126480" y="365760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37960" y="36027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amarelo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incerteza de leitura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Registro em PDF da revisão disponível para as páginas 606 (1891) e 735 (1900).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DATASET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graus de dificuldade visual</a:t>
            </a:r>
            <a:endParaRPr lang="en-US" sz="2800" dirty="0"/>
          </a:p>
        </p:txBody>
      </p:sp>
      <p:pic>
        <p:nvPicPr>
          <p:cNvPr id="4" name="exemplo Fácil" descr="C:\Users\carlo\AppData\Local\Temp\claude\C--Users-carlo-Documents-mestrado-Pesquisa-LLMs-to-OCR-cost\0a61dc15-2d66-486a-a38a-f5ced57e5c56\scratchpad\deck\img\facil_top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2560320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Fácil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 páginas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935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Só texto corrido em duas ou três colunas, títulos e fios; nenhuma tabela.</a:t>
            </a:r>
            <a:endParaRPr lang="en-US" sz="1200" dirty="0"/>
          </a:p>
        </p:txBody>
      </p:sp>
      <p:pic>
        <p:nvPicPr>
          <p:cNvPr id="7" name="exemplo Médio" descr="C:\Users\carlo\AppData\Local\Temp\claude\C--Users-carlo-Documents-mestrado-Pesquisa-LLMs-to-OCR-cost\0a61dc15-2d66-486a-a38a-f5ced57e5c56\scratchpad\deck\img\medio_top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61872"/>
            <a:ext cx="2560320" cy="1874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91840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Médio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páginas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5935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Algo a mais: uma tabela simples embutida, como um balancete curto.</a:t>
            </a:r>
            <a:endParaRPr lang="en-US" sz="1200" dirty="0"/>
          </a:p>
        </p:txBody>
      </p:sp>
      <p:pic>
        <p:nvPicPr>
          <p:cNvPr id="10" name="exemplo Difícil" descr="C:\Users\carlo\AppData\Local\Temp\claude\C--Users-carlo-Documents-mestrado-Pesquisa-LLMs-to-OCR-cost\0a61dc15-2d66-486a-a38a-f5ced57e5c56\scratchpad\deck\img\dificil_top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61872"/>
            <a:ext cx="2560320" cy="1874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126480" y="3246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Difícil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páginas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126480" y="35935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Estrutura composta: grade numérica, cabeçalho em dois níveis, tabela girada.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3708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 que separa os graus é a estrutura visual da folha — não o assunto nem a década. O grau vem no nome da imagem (1891_0606_Dificil.jpg).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geral de avaliação</a:t>
            </a:r>
            <a:endParaRPr lang="en-US" sz="2800" dirty="0"/>
          </a:p>
        </p:txBody>
      </p:sp>
      <p:sp>
        <p:nvSpPr>
          <p:cNvPr id="4" name="etapa Entrada"/>
          <p:cNvSpPr/>
          <p:nvPr/>
        </p:nvSpPr>
        <p:spPr>
          <a:xfrm>
            <a:off x="457200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rcador 1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1284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imagem da página + prompt fixo</a:t>
            </a:r>
            <a:endParaRPr lang="en-US" sz="1100" dirty="0"/>
          </a:p>
        </p:txBody>
      </p:sp>
      <p:sp>
        <p:nvSpPr>
          <p:cNvPr id="9" name="seta"/>
          <p:cNvSpPr/>
          <p:nvPr/>
        </p:nvSpPr>
        <p:spPr>
          <a:xfrm>
            <a:off x="1947672" y="2011680"/>
            <a:ext cx="182880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etapa Sistema"/>
          <p:cNvSpPr/>
          <p:nvPr/>
        </p:nvSpPr>
        <p:spPr>
          <a:xfrm>
            <a:off x="2157984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marcador 2"/>
          <p:cNvSpPr/>
          <p:nvPr/>
        </p:nvSpPr>
        <p:spPr>
          <a:xfrm>
            <a:off x="2295144" y="1463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95144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Sistema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95144" y="221284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uma das três vias de consulta</a:t>
            </a:r>
            <a:endParaRPr lang="en-US" sz="1100" dirty="0"/>
          </a:p>
        </p:txBody>
      </p:sp>
      <p:sp>
        <p:nvSpPr>
          <p:cNvPr id="15" name="seta"/>
          <p:cNvSpPr/>
          <p:nvPr/>
        </p:nvSpPr>
        <p:spPr>
          <a:xfrm>
            <a:off x="3648456" y="2011680"/>
            <a:ext cx="182880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etapa Resposta"/>
          <p:cNvSpPr/>
          <p:nvPr/>
        </p:nvSpPr>
        <p:spPr>
          <a:xfrm>
            <a:off x="3858768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marcador 3"/>
          <p:cNvSpPr/>
          <p:nvPr/>
        </p:nvSpPr>
        <p:spPr>
          <a:xfrm>
            <a:off x="3995928" y="1463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95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Resposta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95928" y="221284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gravada como veio, com tokens, custo e tempo</a:t>
            </a:r>
            <a:endParaRPr lang="en-US" sz="1100" dirty="0"/>
          </a:p>
        </p:txBody>
      </p:sp>
      <p:sp>
        <p:nvSpPr>
          <p:cNvPr id="21" name="seta"/>
          <p:cNvSpPr/>
          <p:nvPr/>
        </p:nvSpPr>
        <p:spPr>
          <a:xfrm>
            <a:off x="5349240" y="2011680"/>
            <a:ext cx="182880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etapa Normalização"/>
          <p:cNvSpPr/>
          <p:nvPr/>
        </p:nvSpPr>
        <p:spPr>
          <a:xfrm>
            <a:off x="5559552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marcador 4"/>
          <p:cNvSpPr/>
          <p:nvPr/>
        </p:nvSpPr>
        <p:spPr>
          <a:xfrm>
            <a:off x="5696712" y="14630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96712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Normalização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696712" y="221284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9E0"/>
                </a:solidFill>
              </a:rPr>
              <a:t>hipótese e referência pela mesma regra</a:t>
            </a:r>
            <a:endParaRPr lang="en-US" sz="1100" dirty="0"/>
          </a:p>
        </p:txBody>
      </p:sp>
      <p:sp>
        <p:nvSpPr>
          <p:cNvPr id="27" name="seta"/>
          <p:cNvSpPr/>
          <p:nvPr/>
        </p:nvSpPr>
        <p:spPr>
          <a:xfrm>
            <a:off x="7050024" y="2011680"/>
            <a:ext cx="182880" cy="23774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etapa Métricas"/>
          <p:cNvSpPr/>
          <p:nvPr/>
        </p:nvSpPr>
        <p:spPr>
          <a:xfrm>
            <a:off x="7260336" y="1325880"/>
            <a:ext cx="1463040" cy="16002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arcador 5"/>
          <p:cNvSpPr/>
          <p:nvPr/>
        </p:nvSpPr>
        <p:spPr>
          <a:xfrm>
            <a:off x="7397496" y="1463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9749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97496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Métricas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97496" y="2212848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por chamada, depois por sistema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Coleta separada do cálculo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 cálculo das métricas roda offline sobre as respostas gravadas: mudar uma regra não gasta API.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Confiabilidade ≠ qualidade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Qualidade só nas chamadas válidas (respondeu e não truncou); custo soma todas as chamadas pagas.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313 chamadas em 9 execuções, de 07 a 09/09/2026.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vias de consulta</a:t>
            </a:r>
            <a:endParaRPr lang="en-US" sz="2800" dirty="0"/>
          </a:p>
        </p:txBody>
      </p:sp>
      <p:sp>
        <p:nvSpPr>
          <p:cNvPr id="4" name="via OpenRouter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ícone OpenRouter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OpenRouter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Sistemas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Opus 5 · Claude Sonnet 5 · Gemini 3.7 Flash · Kimi K3 · GPT-5.6 Sol · Qwen3.7 Plus · Qwen3-VL 235B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Custo cobrado, devolvido na resposta: medido.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Hospedagem fixa na casa de origem; desvio é falha.</a:t>
            </a:r>
            <a:endParaRPr lang="en-US" sz="1100" dirty="0"/>
          </a:p>
        </p:txBody>
      </p:sp>
      <p:sp>
        <p:nvSpPr>
          <p:cNvPr id="11" name="via API do Google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ícone API do Google"/>
          <p:cNvSpPr/>
          <p:nvPr/>
        </p:nvSpPr>
        <p:spPr>
          <a:xfrm>
            <a:off x="3474720" y="144475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do Google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Sistemas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Gemini 3.5 Flash · Gemini 3.6 Flash · Gemini 3.5 Flash-Lite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Custo = tokens × preço de tabela: estimado.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Gemini 3.7 nativo excluído: 9 válidas em 60 tentativas.</a:t>
            </a:r>
            <a:endParaRPr lang="en-US" sz="1100" dirty="0"/>
          </a:p>
        </p:txBody>
      </p:sp>
      <p:sp>
        <p:nvSpPr>
          <p:cNvPr id="18" name="via Execução local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ícone Execução local"/>
          <p:cNvSpPr/>
          <p:nvPr/>
        </p:nvSpPr>
        <p:spPr>
          <a:xfrm>
            <a:off x="6309360" y="144475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Execução local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1965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1"/>
                </a:solidFill>
              </a:rPr>
              <a:t>Sistemas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hybrid (high) · vlm-engine · hybrid (medium) · pipeline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MinerU 3.4, sem instrução em linguagem natural.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Sem custo por token: o recurso é tempo de GPU.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Fontes: OpenRouter (2026); Google (2026); MinerU (WANG et al., 2024; NIU et al., 2025; WANG et al., 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Configurações comuns e prompt</a:t>
            </a:r>
            <a:endParaRPr lang="en-US" sz="2800" dirty="0"/>
          </a:p>
        </p:txBody>
      </p:sp>
      <p:graphicFrame>
        <p:nvGraphicFramePr>
          <p:cNvPr id="9" name="tabela de configuraçõ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8463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Parâmetro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Motivo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temperature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0,0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transcrição não é tarefa criativa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max_tokens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32.000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teto baixo trunca páginas longas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streaming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desligado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 motivo de encerramento denuncia truncamento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hospedagem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fixa, sem desvio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resposta de outra casa seria outro sistema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repetições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por página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variância entre execuções não é medida</a:t>
                      </a:r>
                      <a:endParaRPr lang="en-US" sz="12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prompt"/>
          <p:cNvSpPr/>
          <p:nvPr/>
        </p:nvSpPr>
        <p:spPr>
          <a:xfrm>
            <a:off x="5623560" y="1280160"/>
            <a:ext cx="3063240" cy="3291840"/>
          </a:xfrm>
          <a:prstGeom prst="roundRect">
            <a:avLst>
              <a:gd name="adj" fmla="val 23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463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A27F"/>
                </a:solidFill>
              </a:rPr>
              <a:t>PROMPT ÚNICO (p1)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7830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“Sabendo que essa imagem é um documento antigo brasileiro podendo estar entre 1890 e 1950, transforme essa imagem em um documento HTML respeitando o layout e palavras originais, retorne apenas o código HTML sem texto extra.”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9E0"/>
                </a:solidFill>
              </a:rPr>
              <a:t>O MinerU não recebe prompt (marcador p0).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Normalização: os dois lados na mesma forma</a:t>
            </a:r>
            <a:endParaRPr lang="en-US" sz="2800" dirty="0"/>
          </a:p>
        </p:txBody>
      </p:sp>
      <p:sp>
        <p:nvSpPr>
          <p:cNvPr id="4" name="exemplo bruto"/>
          <p:cNvSpPr/>
          <p:nvPr/>
        </p:nvSpPr>
        <p:spPr>
          <a:xfrm>
            <a:off x="457200" y="1261872"/>
            <a:ext cx="3749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350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RESPOSTA BRUTA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572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&lt;p&gt;&lt;b&gt;Sabbado&lt;/b&gt;, 1.&lt;sup&gt;o&lt;/sup&gt; — 7:500\$000&lt;/p&gt;</a:t>
            </a:r>
            <a:endParaRPr lang="en-US" sz="1100" dirty="0"/>
          </a:p>
        </p:txBody>
      </p:sp>
      <p:sp>
        <p:nvSpPr>
          <p:cNvPr id="7" name="seta"/>
          <p:cNvSpPr/>
          <p:nvPr/>
        </p:nvSpPr>
        <p:spPr>
          <a:xfrm>
            <a:off x="4343400" y="1591056"/>
            <a:ext cx="41148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exemplo normalizado"/>
          <p:cNvSpPr/>
          <p:nvPr/>
        </p:nvSpPr>
        <p:spPr>
          <a:xfrm>
            <a:off x="4892040" y="1261872"/>
            <a:ext cx="3794760" cy="896112"/>
          </a:xfrm>
          <a:prstGeom prst="roundRect">
            <a:avLst>
              <a:gd name="adj" fmla="val 81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56632" y="13350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27F"/>
                </a:solidFill>
              </a:rPr>
              <a:t>TOKENS COMPARADOS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056632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sabbado · 1.o · 7:500$000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77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Marcação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HTML e Markdown viram texto; cercas ```html, escapes (\$) e entidades (&amp;amp;) saem.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377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Tipografia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Aspas, travessões e as grafias do ordinal (º, °, &lt;sup&gt;o&lt;/sup&gt;) viram uma só.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377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Caixa e pontuação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Minúsculas; pontuação removida só nas bordas — 1:770$300 fica inteiro.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520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Fios e traços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Tokens só de traço ou barra são desenho da página: fora do WER, dentro do CER.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3520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Hifenização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apresen-tando, quebra no hífen ou palavra unida: vale a grafia da página.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5204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Grafia de época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Não é modernizada: escrever “sábado” onde a página diz “sabbado” é erro.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medidas</a:t>
            </a:r>
            <a:endParaRPr lang="en-US" sz="2800" dirty="0"/>
          </a:p>
        </p:txBody>
      </p:sp>
      <p:sp>
        <p:nvSpPr>
          <p:cNvPr id="4" name="métrica CER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(S+D+I) / N caracteres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 por caractere. É a mais estável e ordena os sistemas.</a:t>
            </a:r>
            <a:endParaRPr lang="en-US" sz="1200" dirty="0"/>
          </a:p>
        </p:txBody>
      </p:sp>
      <p:sp>
        <p:nvSpPr>
          <p:cNvPr id="8" name="métrica WER"/>
          <p:cNvSpPr/>
          <p:nvPr/>
        </p:nvSpPr>
        <p:spPr>
          <a:xfrm>
            <a:off x="329184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(S+D+I) / N palavras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Erro por palavra, na ordem de leitura. Pode passar de 1.</a:t>
            </a:r>
            <a:endParaRPr lang="en-US" sz="1200" dirty="0"/>
          </a:p>
        </p:txBody>
      </p:sp>
      <p:sp>
        <p:nvSpPr>
          <p:cNvPr id="12" name="métrica F1 de palavras"/>
          <p:cNvSpPr/>
          <p:nvPr/>
        </p:nvSpPr>
        <p:spPr>
          <a:xfrm>
            <a:off x="612648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de palavras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ignorando a ordem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0848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Palavras recuperadas em qualquer ordem: separa leitura de ordem.</a:t>
            </a:r>
            <a:endParaRPr lang="en-US" sz="1200" dirty="0"/>
          </a:p>
        </p:txBody>
      </p:sp>
      <p:sp>
        <p:nvSpPr>
          <p:cNvPr id="16" name="métrica num_f1"/>
          <p:cNvSpPr/>
          <p:nvPr/>
        </p:nvSpPr>
        <p:spPr>
          <a:xfrm>
            <a:off x="45720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63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num_f1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sobre os números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307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Recuperou os valores em réis, datas e números de processo?</a:t>
            </a:r>
            <a:endParaRPr lang="en-US" sz="1200" dirty="0"/>
          </a:p>
        </p:txBody>
      </p:sp>
      <p:sp>
        <p:nvSpPr>
          <p:cNvPr id="20" name="métrica HTML limpo"/>
          <p:cNvSpPr/>
          <p:nvPr/>
        </p:nvSpPr>
        <p:spPr>
          <a:xfrm>
            <a:off x="329184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063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limpo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= só o documento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37307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Obedeceu ao “sem texto extra”? A cerca ```html é tolerada.</a:t>
            </a:r>
            <a:endParaRPr lang="en-US" sz="1200" dirty="0"/>
          </a:p>
        </p:txBody>
      </p:sp>
      <p:sp>
        <p:nvSpPr>
          <p:cNvPr id="24" name="métrica Custo e tempo"/>
          <p:cNvSpPr/>
          <p:nvPr/>
        </p:nvSpPr>
        <p:spPr>
          <a:xfrm>
            <a:off x="6126480" y="292608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063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e tempo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US$ pago ÷ válidas · s/pág.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7307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Inclui o que foi pago em chamadas truncadas.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S, D, I = substituições, remoções e inserções da distância de edição (LEVENSHTEIN, 1966). CER e WER juntos, como em OCR histórico (LEVCHENKO, 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dos 14 sistemas</a:t>
            </a:r>
            <a:endParaRPr lang="en-US" sz="2800" dirty="0"/>
          </a:p>
        </p:txBody>
      </p:sp>
      <p:graphicFrame>
        <p:nvGraphicFramePr>
          <p:cNvPr id="12" name="tabela de 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68680"/>
                <a:gridCol w="685800"/>
                <a:gridCol w="685800"/>
                <a:gridCol w="685800"/>
                <a:gridCol w="731520"/>
                <a:gridCol w="731520"/>
                <a:gridCol w="868680"/>
                <a:gridCol w="82296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Sistema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Via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Páginas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F1 pal.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num_f1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US$/pág.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s/pág.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Claude Opus 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1,3%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3,3%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0,974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0,934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0,1939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Claude Sonnet 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1,5%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3,3%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0,974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0,938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0,0607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Gemini 3.5 Flash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Google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1,7%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3,1%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0,977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0,945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0,2410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Gemini 3.7 Flash (OpenRouter)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1,9%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4,4%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0,968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0,917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0,0295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Kimi K3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2,1%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5,0%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0,957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0,896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0,0721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Gemini 3.6 Flash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Google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2,4%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5,5%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0,959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0,906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0,0287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GPT-5.6 Sol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2,9%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6,1%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0,950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0,870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0,0622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Gemini 3.5 Flash-Lite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Google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3,1%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7,4%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0,940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0,881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0,0099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MinerU hybrid (high)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local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4,9%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13,4%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0,885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0,849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grátis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328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MinerU vlm-engine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local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4,9%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13,4%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0,885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0,849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grátis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Qwen3.7 Plus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6,8%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10,1%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0,938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0,903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0,0077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MinerU hybrid (medium)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local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10,3%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19,0%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0,878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0,847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grátis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293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MinerU pipeline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local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13,7%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33,3%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0,746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0,712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grátis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Qwen3-VL 235B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</a:rPr>
                        <a:t>OpenRouter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16/16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17,4%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22,0%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0,845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0,821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0,0038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en-US" sz="10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Ordenado por CER · em destaque, o melhor valor entre os que cobriram as 16 páginas · US$ por página válida, truncadas incluídas.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por caractere e por palavra</a:t>
            </a:r>
            <a:endParaRPr lang="en-US" sz="2800" dirty="0"/>
          </a:p>
        </p:txBody>
      </p:sp>
      <p:pic>
        <p:nvPicPr>
          <p:cNvPr id="4" name="figura CER e WER por modelo" descr="C:\Users\carlo\Documents\mestrado\Pesquisa\LLMs-to-OCR-cost\results\graficos\cer_wer_por_mode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142232" cy="3630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0" y="1280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1,3%–2,9%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719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CER dos melhores LLMs: Claude, Gemini 3.7/3.6, Kimi e GPT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2423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862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CER do melhor MinerU, sem custo por token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566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17,4%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4005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CER do Qwen3-VL 235B, o mais barato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Fidelidade dos números</a:t>
            </a:r>
            <a:endParaRPr lang="en-US" sz="2800" dirty="0"/>
          </a:p>
        </p:txBody>
      </p:sp>
      <p:pic>
        <p:nvPicPr>
          <p:cNvPr id="4" name="figura num_f1 por modelo" descr="C:\Users\carlo\Documents\mestrado\Pesquisa\LLMs-to-OCR-cost\results\graficos\num_f1_por_mode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142232" cy="3630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0" y="1280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0,82–0,94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029200" y="1719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num_f1 dos LLMs com cobertura completa: nenhum dispensa conferência dos valores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2423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erram mais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862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 todos os sistemas o num_f1 fica abaixo do F1 de palavras: o valor em réis é o ponto fraco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566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 ≠ leitura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4005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Qwen3.7 Plus: WER 0,10, mas F1 de palavras 0,94 — parte do erro é ordem de leitura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× qualidade</a:t>
            </a:r>
            <a:endParaRPr lang="en-US" sz="2800" dirty="0"/>
          </a:p>
        </p:txBody>
      </p:sp>
      <p:pic>
        <p:nvPicPr>
          <p:cNvPr id="4" name="figura custo-benefício" descr="C:\Users\carlo\Documents\mestrado\Pesquisa\LLMs-to-OCR-cost\results\graficos\custo_benef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468112" cy="3621024"/>
          </a:xfrm>
          <a:prstGeom prst="rect">
            <a:avLst/>
          </a:prstGeom>
        </p:spPr>
      </p:pic>
      <p:sp>
        <p:nvSpPr>
          <p:cNvPr id="5" name="leitura do gráfico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99632" y="137160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Fronteira de Pareto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Qwen3-VL 235B → Qwen3.7 Plus → Gemini 3.5 Flash-Lite → Gemini 3.6 Flash → Gemini 3.7 Flash → Claude Sonnet 5 → Claude Opus 5.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Fora dela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Gemini 3.5 Flash, Kimi K3, GPT-5.6 Sol: há outro sistema mais barato e mais preciso.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 MinerU fica no custo zero: compete só pelo erro.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projetado para 3,6 milhões de páginas</a:t>
            </a:r>
            <a:endParaRPr lang="en-US" sz="2800" dirty="0"/>
          </a:p>
        </p:txBody>
      </p:sp>
      <p:pic>
        <p:nvPicPr>
          <p:cNvPr id="4" name="figura projeção do acervo" descr="C:\Users\carlo\Documents\mestrado\Pesquisa\LLMs-to-OCR-cost\results\graficos\custo_n_pagi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496312"/>
          </a:xfrm>
          <a:prstGeom prst="rect">
            <a:avLst/>
          </a:prstGeom>
        </p:spPr>
      </p:pic>
      <p:sp>
        <p:nvSpPr>
          <p:cNvPr id="5" name="destaque 0"/>
          <p:cNvSpPr/>
          <p:nvPr/>
        </p:nvSpPr>
        <p:spPr>
          <a:xfrm>
            <a:off x="457200" y="3794760"/>
            <a:ext cx="2606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51×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1879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entre o mais caro e o mais barato com cobertura completa</a:t>
            </a:r>
            <a:endParaRPr lang="en-US" sz="1050" dirty="0"/>
          </a:p>
        </p:txBody>
      </p:sp>
      <p:sp>
        <p:nvSpPr>
          <p:cNvPr id="8" name="destaque 1"/>
          <p:cNvSpPr/>
          <p:nvPr/>
        </p:nvSpPr>
        <p:spPr>
          <a:xfrm>
            <a:off x="3291840" y="3794760"/>
            <a:ext cx="2606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US$ 106,0 mil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41879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Gemini 3.7 Flash: CER 1,9%, 6,6× mais barato que o Opus</a:t>
            </a:r>
            <a:endParaRPr lang="en-US" sz="1050" dirty="0"/>
          </a:p>
        </p:txBody>
      </p:sp>
      <p:sp>
        <p:nvSpPr>
          <p:cNvPr id="11" name="destaque 2"/>
          <p:cNvSpPr/>
          <p:nvPr/>
        </p:nvSpPr>
        <p:spPr>
          <a:xfrm>
            <a:off x="6126480" y="3794760"/>
            <a:ext cx="260604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840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41879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“Melhor custo-benefício” = menor custo ÷ (1 − CER). O critério pesa pouco o erro.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tempo levaria o acervo</a:t>
            </a:r>
            <a:endParaRPr lang="en-US" sz="2800" dirty="0"/>
          </a:p>
        </p:txBody>
      </p:sp>
      <p:pic>
        <p:nvPicPr>
          <p:cNvPr id="4" name="figura tempo do acervo" descr="C:\Users\carlo\Documents\mestrado\Pesquisa\LLMs-to-OCR-cost\results\graficos\tempo_do_acer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370832" cy="3630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1280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 anos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1719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 série para o Gemini 3.7 Flash, o mais rápido (23 s/página)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2423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anos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862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 série para o MinerU hybrid-high na GPU local (328 s/página)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35661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Paralelismo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40050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 50 chamadas simultâneas, os LLMs por API cabem em semanas; o MinerU local disputa uma única GPU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Obediência ao formato pedido</a:t>
            </a:r>
            <a:endParaRPr lang="en-US" sz="2800" dirty="0"/>
          </a:p>
        </p:txBody>
      </p:sp>
      <p:pic>
        <p:nvPicPr>
          <p:cNvPr id="4" name="figura obediência ao formato" descr="C:\Users\carlo\Documents\mestrado\Pesquisa\LLMs-to-OCR-cost\results\graficos\html_sem_texto_ext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349240" cy="3602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280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de 10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7190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LLMs devolveram só o HTML em todas as páginas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423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8620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Qwen3-VL 235B, o menos obediente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5661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Cerca ```html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00507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conta como formatação, não como texto extra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Páginas difíceis erram 2,8× mais</a:t>
            </a:r>
            <a:endParaRPr lang="en-US" sz="2800" dirty="0"/>
          </a:p>
        </p:txBody>
      </p:sp>
      <p:pic>
        <p:nvPicPr>
          <p:cNvPr id="4" name="figura erro por dificuldade" descr="C:\Users\carlo\Documents\mestrado\Pesquisa\LLMs-to-OCR-cost\results\graficos\erro_por_dificuld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2633472"/>
          </a:xfrm>
          <a:prstGeom prst="rect">
            <a:avLst/>
          </a:prstGeom>
        </p:spPr>
      </p:pic>
      <p:sp>
        <p:nvSpPr>
          <p:cNvPr id="5" name="destaque 0"/>
          <p:cNvSpPr/>
          <p:nvPr/>
        </p:nvSpPr>
        <p:spPr>
          <a:xfrm>
            <a:off x="457200" y="393192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977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2,8×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CER da página difícil sobre a fácil</a:t>
            </a:r>
            <a:endParaRPr lang="en-US" sz="1050" dirty="0"/>
          </a:p>
        </p:txBody>
      </p:sp>
      <p:sp>
        <p:nvSpPr>
          <p:cNvPr id="8" name="destaque 1"/>
          <p:cNvSpPr/>
          <p:nvPr/>
        </p:nvSpPr>
        <p:spPr>
          <a:xfrm>
            <a:off x="3291840" y="393192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29000" y="3977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3,7% → 4,1%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fácil e médio quase iguais: uma tabela simples não pesa</a:t>
            </a:r>
            <a:endParaRPr lang="en-US" sz="1050" dirty="0"/>
          </a:p>
        </p:txBody>
      </p:sp>
      <p:sp>
        <p:nvSpPr>
          <p:cNvPr id="11" name="destaque 2"/>
          <p:cNvSpPr/>
          <p:nvPr/>
        </p:nvSpPr>
        <p:spPr>
          <a:xfrm>
            <a:off x="6126480" y="3931920"/>
            <a:ext cx="2606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977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4297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 salto vem das grades numéricas e tabelas compostas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8A27F"/>
                </a:solidFill>
              </a:rPr>
              <a:t>CONCLUSÕES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mostram</a:t>
            </a:r>
            <a:endParaRPr lang="en-US" sz="2800" dirty="0"/>
          </a:p>
        </p:txBody>
      </p:sp>
      <p:sp>
        <p:nvSpPr>
          <p:cNvPr id="4" name="marcador 1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Viável como primeira passada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57276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Os LLMs de ponta erram 1,3% a 2,9% dos caracteres — bom para busca, ainda com revisão para edição.</a:t>
            </a:r>
            <a:endParaRPr lang="en-US" sz="1200" dirty="0"/>
          </a:p>
        </p:txBody>
      </p:sp>
      <p:sp>
        <p:nvSpPr>
          <p:cNvPr id="8" name="marcador 2"/>
          <p:cNvSpPr/>
          <p:nvPr/>
        </p:nvSpPr>
        <p:spPr>
          <a:xfrm>
            <a:off x="466344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93792" y="1280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Preço não acompanha qualidade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93792" y="157276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Gemini 3.7 Flash (CER 1,9%) custa 1/7 do Claude Opus 5 (1,3%); o Sonnet chega perto do Opus por 1/3 do preço.</a:t>
            </a:r>
            <a:endParaRPr lang="en-US" sz="1200" dirty="0"/>
          </a:p>
        </p:txBody>
      </p:sp>
      <p:sp>
        <p:nvSpPr>
          <p:cNvPr id="12" name="marcador 3"/>
          <p:cNvSpPr/>
          <p:nvPr/>
        </p:nvSpPr>
        <p:spPr>
          <a:xfrm>
            <a:off x="457200" y="2441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2395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Números são o ponto fraco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268833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num_f1 entre 0,82 e 0,94 nos LLMs: valores em réis exigem conferência.</a:t>
            </a:r>
            <a:endParaRPr lang="en-US" sz="1200" dirty="0"/>
          </a:p>
        </p:txBody>
      </p:sp>
      <p:sp>
        <p:nvSpPr>
          <p:cNvPr id="16" name="marcador 4"/>
          <p:cNvSpPr/>
          <p:nvPr/>
        </p:nvSpPr>
        <p:spPr>
          <a:xfrm>
            <a:off x="4663440" y="24414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2395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Estrutura pesa mais que época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2688336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Páginas com tabelas compostas erram 2,8× mais que páginas só de texto.</a:t>
            </a:r>
            <a:endParaRPr lang="en-US" sz="1200" dirty="0"/>
          </a:p>
        </p:txBody>
      </p:sp>
      <p:sp>
        <p:nvSpPr>
          <p:cNvPr id="20" name="marcador 5"/>
          <p:cNvSpPr/>
          <p:nvPr/>
        </p:nvSpPr>
        <p:spPr>
          <a:xfrm>
            <a:off x="457200" y="3557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3511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Grátis custa tempo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38039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O MinerU local chega a CER 4,9% sem pagar API, mas a 328 s por página na GPU.</a:t>
            </a:r>
            <a:endParaRPr lang="en-US" sz="1200" dirty="0"/>
          </a:p>
        </p:txBody>
      </p:sp>
      <p:sp>
        <p:nvSpPr>
          <p:cNvPr id="24" name="marcador 6"/>
          <p:cNvSpPr/>
          <p:nvPr/>
        </p:nvSpPr>
        <p:spPr>
          <a:xfrm>
            <a:off x="4663440" y="3557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35112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via também é resultado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380390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0"/>
                </a:solidFill>
              </a:rPr>
              <a:t>A API nativa do Gemini 3.7 deu 9 respostas válidas em 60; pelo OpenRouter, 16 em 16.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0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LIMITAÇÕES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2800" dirty="0"/>
          </a:p>
        </p:txBody>
      </p:sp>
      <p:sp>
        <p:nvSpPr>
          <p:cNvPr id="4" name="limitação Amostra pequena"/>
          <p:cNvSpPr/>
          <p:nvPr/>
        </p:nvSpPr>
        <p:spPr>
          <a:xfrm>
            <a:off x="457200" y="126187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Amostra pequena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1907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16 páginas e uma chamada por página: sem intervalo de confiança nem variância entre execuções.</a:t>
            </a:r>
            <a:endParaRPr lang="en-US" sz="1100" dirty="0"/>
          </a:p>
        </p:txBody>
      </p:sp>
      <p:sp>
        <p:nvSpPr>
          <p:cNvPr id="7" name="limitação Origem da referência"/>
          <p:cNvSpPr/>
          <p:nvPr/>
        </p:nvSpPr>
        <p:spPr>
          <a:xfrm>
            <a:off x="3291840" y="126187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Origem da referência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1907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Transcrição inicial pelo Claude Opus 5.1, revisada à mão: pode favorecer a família Claude. Registro em PDF da revisão em 2 de 16 páginas.</a:t>
            </a:r>
            <a:endParaRPr lang="en-US" sz="1100" dirty="0"/>
          </a:p>
        </p:txBody>
      </p:sp>
      <p:sp>
        <p:nvSpPr>
          <p:cNvPr id="10" name="limitação Ordem de leitura"/>
          <p:cNvSpPr/>
          <p:nvPr/>
        </p:nvSpPr>
        <p:spPr>
          <a:xfrm>
            <a:off x="6126480" y="126187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389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Ordem de leitura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171907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 WER penaliza a ordem; o F1 de palavras separa os efeitos, mas nenhuma métrica avalia a ordem em si.</a:t>
            </a:r>
            <a:endParaRPr lang="en-US" sz="1100" dirty="0"/>
          </a:p>
        </p:txBody>
      </p:sp>
      <p:sp>
        <p:nvSpPr>
          <p:cNvPr id="13" name="limitação O que não é medido"/>
          <p:cNvSpPr/>
          <p:nvPr/>
        </p:nvSpPr>
        <p:spPr>
          <a:xfrm>
            <a:off x="457200" y="295351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081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que não é medido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41071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Estrutura de tabela e layout do HTML; modernização ortográfica conta como erro comum, sem métrica própria.</a:t>
            </a:r>
            <a:endParaRPr lang="en-US" sz="1100" dirty="0"/>
          </a:p>
        </p:txBody>
      </p:sp>
      <p:sp>
        <p:nvSpPr>
          <p:cNvPr id="16" name="limitação Custo heterogêneo"/>
          <p:cNvSpPr/>
          <p:nvPr/>
        </p:nvSpPr>
        <p:spPr>
          <a:xfrm>
            <a:off x="3291840" y="295351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3081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Custo heterogêneo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341071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Gemini por preço de tabela (estimado), OpenRouter pelo valor cobrado; preços mudam com o tempo.</a:t>
            </a:r>
            <a:endParaRPr lang="en-US" sz="1100" dirty="0"/>
          </a:p>
        </p:txBody>
      </p:sp>
      <p:sp>
        <p:nvSpPr>
          <p:cNvPr id="19" name="limitação Cobertura e hardware"/>
          <p:cNvSpPr/>
          <p:nvPr/>
        </p:nvSpPr>
        <p:spPr>
          <a:xfrm>
            <a:off x="6126480" y="2953512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1072" y="3081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Cobertura e hardware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91072" y="341071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Gemini 3.5 Flash cobriu 11/16 páginas; MinerU vlm e hybrid-high deram texto quase idêntico; o tempo do MinerU mede esta GPU.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REFERÊNCIAS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07008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GOOGLE.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Gemini API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: documentação para desenvolvedores. [S. l.]: Google AI for Developers, 2026. Disponível em: https://ai.google.dev/gemini-api/docs. Acesso em: 18 out. 2026.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LEVCHENKO, M.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Evaluating LLMs for historical document OCR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: a methodological framework for digital humanities. arXiv, 2025. Trabalho apresentado no First Workshop on Natural Language Processing and Language Models for Digital Humanities (LM4DH 2025), RANLP 2025. Disponível em: https://arxiv.org/abs/2510.06743. Acesso em: 18 out. 2026.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LEVENSHTEIN, V. I. Binary codes capable of correcting deletions, insertions, and reversals.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Soviet Physics Doklady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, [S. l.], v. 10, n. 8, p. 707-710, 1966.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NIU, J. et al.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MinerU2.5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: a decoupled vision-language model for efficient high-resolution document parsing. arXiv, 2025. Disponível em: https://arxiv.org/abs/2509.22186. Acesso em: 18 out. 2026.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OPENROUTER.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OpenRouter documentation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. [S. l.]: OpenRouter, 2026. Disponível em: https://openrouter.ai/docs. Acesso em: 18 out. 2026.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WANG, B. et al.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MinerU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: an open-source solution for precise document content extraction. arXiv, 2024. Disponível em: https://arxiv.org/abs/2409.18839. Acesso em: 18 out. 2026.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WANG, B. et al. </a:t>
            </a:r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chemeClr val="tx1"/>
                </a:solidFill>
              </a:rPr>
              <a:t>MinerU2.5-Pro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: pushing the limits of data-centric document parsing at scale. arXiv, 2026. Disponível em: https://arxiv.org/abs/2604.04771. Acesso em: 18 out. 2026.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rio Official">
  <a:themeElements>
    <a:clrScheme name="Diario Official">
      <a:dk1>
        <a:srgbClr val="1F2430"/>
      </a:dk1>
      <a:lt1>
        <a:srgbClr val="FFFFFF"/>
      </a:lt1>
      <a:dk2>
        <a:srgbClr val="4A5060"/>
      </a:dk2>
      <a:lt2>
        <a:srgbClr val="F1F3F6"/>
      </a:lt2>
      <a:accent1>
        <a:srgbClr val="B5532F"/>
      </a:accent1>
      <a:accent2>
        <a:srgbClr val="2F64A8"/>
      </a:accent2>
      <a:accent3>
        <a:srgbClr val="8A8F98"/>
      </a:accent3>
      <a:accent4>
        <a:srgbClr val="2A7F62"/>
      </a:accent4>
      <a:accent5>
        <a:srgbClr val="B9822A"/>
      </a:accent5>
      <a:accent6>
        <a:srgbClr val="6C4F9E"/>
      </a:accent6>
      <a:hlink>
        <a:srgbClr val="2F64A8"/>
      </a:hlink>
      <a:folHlink>
        <a:srgbClr val="6C4F9E"/>
      </a:folHlink>
    </a:clrScheme>
    <a:fontScheme name="Diario Offic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Transcrição de documentos históricos com LLMs</dc:title>
  <dc:subject>PptxGenJS Presentation</dc:subject>
  <dc:creator>Carlos Rafael</dc:creator>
  <cp:lastModifiedBy>Carlos Rafael</cp:lastModifiedBy>
  <cp:revision>1</cp:revision>
  <dcterms:created xsi:type="dcterms:W3CDTF">2026-10-18T21:30:26Z</dcterms:created>
  <dcterms:modified xsi:type="dcterms:W3CDTF">2026-10-18T21:30:26Z</dcterms:modified>
</cp:coreProperties>
</file>